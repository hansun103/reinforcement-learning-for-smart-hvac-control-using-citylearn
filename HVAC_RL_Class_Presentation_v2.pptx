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scope: this is a real implemented prototype, not a future concept.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23 is from runtime activation logs, not just static config comments.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method choice as representative, not exhaustive benchmarking.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 on electricity, cost, and carbon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one clear takeaway: better energy/carbon can conflict with comfort.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this is a short-horizon prototype, not final convergence.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visual to explain why comfort KPIs differ.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grounded: practical integration and safety before rollout.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transparent here; this usually improves Q&amp;A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balanced claim: promising results plus clear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Reinforcement Learning for Smart HVAC Control Using CityLearn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Course project prototype using CityLearn 2023 local evaluation dataset.</a:t>
            </a:r>
          </a:p>
          <a:p>
            <a:pPr>
              <a:defRPr sz="2200"/>
            </a:pPr>
            <a:r>
              <a:t>Controllers compared: Rule-Based Controller (RBC), SAC, PPO, TD3.</a:t>
            </a:r>
          </a:p>
          <a:p>
            <a:pPr>
              <a:defRPr sz="2200"/>
            </a:pPr>
            <a:r>
              <a:t>Objective: reduce electricity, cost, and carbon while preserving comfort.</a:t>
            </a:r>
          </a:p>
          <a:p>
            <a:pPr>
              <a:defRPr sz="2200"/>
            </a:pPr>
            <a:r>
              <a:t>This deck reports only implemented pipeline and saved repo results.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Formulation (MDP)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Environment: CityLearn central agent; default single-building (Building_1).</a:t>
            </a:r>
          </a:p>
          <a:p>
            <a:pPr>
              <a:defRPr sz="1900"/>
            </a:pPr>
            <a:r>
              <a:t>State: runtime-activated 23 observations including weather, load, SOC, pricing, carbon.</a:t>
            </a:r>
          </a:p>
          <a:p>
            <a:pPr>
              <a:defRPr sz="1900"/>
            </a:pPr>
            <a:r>
              <a:t>Action: 3-D continuous HVAC/storage control vector through SB3 wrappers.</a:t>
            </a:r>
          </a:p>
          <a:p>
            <a:pPr>
              <a:defRPr sz="1900"/>
            </a:pPr>
            <a:r>
              <a:t>Reward: -(0.4*energy + 0.4*comfort + 0.2*carbon) from src/reward.py.</a:t>
            </a:r>
          </a:p>
          <a:p>
            <a:pPr>
              <a:defRPr sz="1900"/>
            </a:pPr>
            <a:r>
              <a:t>Episode length in runs: ~719 hourly steps.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Methods and Evaluation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RBC baseline: time-of-use charge/discharge schedule.</a:t>
            </a:r>
          </a:p>
          <a:p>
            <a:pPr>
              <a:defRPr sz="1800"/>
            </a:pPr>
            <a:r>
              <a:t>SAC: off-policy stochastic; PPO: on-policy stochastic; TD3: off-policy deterministic.</a:t>
            </a:r>
          </a:p>
          <a:p>
            <a:pPr>
              <a:defRPr sz="1800"/>
            </a:pPr>
            <a:r>
              <a:t>Train script runs baseline + selected RL algorithms; evaluate script compares all available models.</a:t>
            </a:r>
          </a:p>
          <a:p>
            <a:pPr>
              <a:defRPr sz="1800"/>
            </a:pPr>
            <a:r>
              <a:t>EvalCallback saves best checkpoint per algorithm (results/best_{algo}/best_model.zip).</a:t>
            </a:r>
          </a:p>
          <a:p>
            <a:pPr>
              <a:defRPr sz="1800"/>
            </a:pPr>
            <a:r>
              <a:t>KPIs and plots are generated automatically into results/.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Comparison Across Controllers</a:t>
            </a:r>
          </a:p>
        </p:txBody>
      </p:sp>
      <p:pic>
        <p:nvPicPr>
          <p:cNvPr id="3" name="Picture 2" descr="kpi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10972800" cy="50112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035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Lower is better for most normalized KPIs (reference = 1.0).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KPI Numbers (from saved CSVs)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Electricity total: RBC 1.3889, SAC 0.6175, PPO 0.3771, TD3 0.3822.</a:t>
            </a:r>
          </a:p>
          <a:p>
            <a:pPr>
              <a:defRPr sz="1800"/>
            </a:pPr>
            <a:r>
              <a:t>Cost total: RBC 1.2496, SAC 0.5803, PPO 0.3616, TD3 0.3580.</a:t>
            </a:r>
          </a:p>
          <a:p>
            <a:pPr>
              <a:defRPr sz="1800"/>
            </a:pPr>
            <a:r>
              <a:t>Carbon total: RBC 1.3378, SAC 0.6104, PPO 0.3741, TD3 0.3786.</a:t>
            </a:r>
          </a:p>
          <a:p>
            <a:pPr>
              <a:defRPr sz="1800"/>
            </a:pPr>
            <a:r>
              <a:t>Comfort trade-off: SAC discomfort 0.5792 vs PPO/TD3 0.9804.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Behavior and Training Dynamics</a:t>
            </a:r>
          </a:p>
        </p:txBody>
      </p:sp>
      <p:pic>
        <p:nvPicPr>
          <p:cNvPr id="3" name="Picture 2" descr="training_rew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577840" cy="2189819"/>
          </a:xfrm>
          <a:prstGeom prst="rect">
            <a:avLst/>
          </a:prstGeom>
        </p:spPr>
      </p:pic>
      <p:pic>
        <p:nvPicPr>
          <p:cNvPr id="4" name="Picture 3" descr="reward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577840" cy="18217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8978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Training rewards from monitor logs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58978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Per-step reward comparison (smoothed)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Comfort Trade-off Evidence</a:t>
            </a:r>
          </a:p>
        </p:txBody>
      </p:sp>
      <p:pic>
        <p:nvPicPr>
          <p:cNvPr id="3" name="Picture 2" descr="temperature_trace_s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577840" cy="1821782"/>
          </a:xfrm>
          <a:prstGeom prst="rect">
            <a:avLst/>
          </a:prstGeom>
        </p:spPr>
      </p:pic>
      <p:pic>
        <p:nvPicPr>
          <p:cNvPr id="4" name="Picture 3" descr="temperature_trace_p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577840" cy="18217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8978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SAC temperature trace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58978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PPO temperature trace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Plan (Realistic Productization 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Likely users: facility operators, campus energy teams, BMS vendors.</a:t>
            </a:r>
          </a:p>
          <a:p>
            <a:pPr>
              <a:defRPr sz="1800"/>
            </a:pPr>
            <a:r>
              <a:t>Value proposition: adaptive control can lower cost/carbon beyond fixed schedules.</a:t>
            </a:r>
          </a:p>
          <a:p>
            <a:pPr>
              <a:defRPr sz="1800"/>
            </a:pPr>
            <a:r>
              <a:t>Needed before deployment: BAS integration, forecast pipeline, data QA, safety constraints.</a:t>
            </a:r>
          </a:p>
          <a:p>
            <a:pPr>
              <a:defRPr sz="1800"/>
            </a:pPr>
            <a:r>
              <a:t>RBC still matters as fallback control and trust-building benchmark in operations.</a:t>
            </a:r>
          </a:p>
          <a:p>
            <a:pPr>
              <a:defRPr sz="1800"/>
            </a:pPr>
            <a:r>
              <a:t>Deployment risks: comfort violations, model drift, robustness and cyber/security concerns.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Assumptions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Validation is simulation-only (CityLearn), not live building deployment.</a:t>
            </a:r>
          </a:p>
          <a:p>
            <a:pPr>
              <a:defRPr sz="1800"/>
            </a:pPr>
            <a:r>
              <a:t>Reported results are single-building default mode (MULTI_BUILDING=False).</a:t>
            </a:r>
          </a:p>
          <a:p>
            <a:pPr>
              <a:defRPr sz="1800"/>
            </a:pPr>
            <a:r>
              <a:t>Short training budget (5 episodes) prioritizes prototype speed over full convergence.</a:t>
            </a:r>
          </a:p>
          <a:p>
            <a:pPr>
              <a:defRPr sz="1800"/>
            </a:pPr>
            <a:r>
              <a:t>Some configured observations are unavailable in schema and skipped at runtime.</a:t>
            </a:r>
          </a:p>
          <a:p>
            <a:pPr>
              <a:defRPr sz="1800"/>
            </a:pPr>
            <a:r>
              <a:t>Optuna tuning exists, but tuned params must be copied manually into config for full runs.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Implemented end-to-end pipeline: tune/train/evaluate with reproducible outputs.</a:t>
            </a:r>
          </a:p>
          <a:p>
            <a:pPr>
              <a:defRPr sz="1800"/>
            </a:pPr>
            <a:r>
              <a:t>RL methods clearly improved energy-cost-carbon KPIs vs RBC in current experiments.</a:t>
            </a:r>
          </a:p>
          <a:p>
            <a:pPr>
              <a:defRPr sz="1800"/>
            </a:pPr>
            <a:r>
              <a:t>Comfort remains the key unresolved trade-off and should be constraint-prioritized next.</a:t>
            </a:r>
          </a:p>
          <a:p>
            <a:pPr>
              <a:defRPr sz="1800"/>
            </a:pPr>
            <a:r>
              <a:t>Next phase: comfort-aware reward/constraints, multi-seed tests, multi-building experiments.</a:t>
            </a:r>
          </a:p>
          <a:p>
            <a:pPr>
              <a:defRPr sz="1800"/>
            </a:pPr>
            <a:r>
              <a:t>Future deployment path requires integration, safety guardrails, and staged rollout.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